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 цифр: 14,6 ₽/₽ — «Итоги месяца», лист «Улан-Удэ», сумма январь–май 2026: выручка 13 972 293 ₽ / бюджет 954 252 ₽. 6 300+ заявок — выгрузка «Стоматология Калининград Кемерово Новокузнецк Улан-Удэ Томск», все 5 листов, 03.08.2025–07.07.2026 (пересчёт построчно: 6 353). 14 городов — «БАЗА ЗНАНИЙ СТОМАТОЛОГИЯ» (Памятка) + «Итоги месяца» + выгрузка; активных в 2026 — 5 городов.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1 200–1 500 ₽ — «БАЗА ЗНАНИЙ СТОМАТОЛОГИЯ», лист «БЗ стоматологии 2025», таблица KPI 09.2025 (внутренняя памятка, суммы в договорах — в Приложении №1, не проверялись). Сайты: лист «Готовность сайтов» — 11 городов в работе, 7 со статусом «Сдан». 20+ мес — «Итоги месяца», Кемерово: сентябрь 2024 — май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«Итоги месяца», лист «Улан-Удэ». Декабрь 2025: 310 заявок, CPL 1 082 ₽, 194 записи (62,6%). Январь 2026: 239 заявок, бюджет 266 724 ₽, 166 записей (69,5%), 84 прихода, 16 продаж, выручка 3 305 850 ₽, ДРР 8,15%. Сумма янв–май: 13 972 293 ₽ / 954 252 ₽ = 14,6. Приход 266 724/84 = 3 175 ₽; продажа 266 724/16 = 16 670 ₽; средний чек 3 305 850/16 ≈ 207 тыс. ₽. Февраль 2026: выручка 831 950 ₽ при бюджете 54 684 ₽ — потому «4 из 5 месяцев».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«Итоги месяца», лист «Статистика 2025», блок «Июль 2025» (консервативная версия из двух листов; в «Новокузнецк 2025» выручка июля 4 122 062 ₽ — расхождение уточнить). Приход 425 600/46 = 9 252 ₽; продажа 425 600/12 = 35 467 ₽; чек 3 820 425/12 ≈ 318 тыс. ₽. Январь 2026: 2 955 855 ₽, ДРР 11,4% (лист «Новокузнецк 2025»).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«Итоги месяца», листы «Статистика 2025» (июль 2025) и «Калининград 2025» (январь–февраль 2026). Июль: 414 заявок (Битрикс), 135 записей = 32,6% (по базе Битрикс). Январь: 197 заявок, 344 750 ₽, 84 записи (42,6%), ~36 приходов, 10 продаж, выручка 3 333 213 ₽, ДРР 11,9%. Приход 344 750/36 = 9 576 ₽; продажа 344 750/10 = 34 475 ₽. Рост выручки 3 333 213/2 028 777 = ×1,64; бюджет −43%.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«Итоги месяца», листы «Статистика 2025» (ноябрь 2024: 136 заявок, CPL 760 ₽, 53 записи, 26 приходов, 6 продаж, выручка 1 411 971 ₽, ДРР 6,7%) и «Кемерово 2025» (январь 2026: 131 заявка, 196 500 ₽, выручка 1 883 800 ₽, ДРР 10,4%). 2 075 заявок — выгрузка, лист «Кемерово», 03.08.2025–06.07.2026. Сайт клиники и соцсети — «БАЗА ЗНАНИЙ СТОМАТОЛОГИЯ» (домен на слайд не выносим до письменного согласия клиники).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«БАЗА ЗНАНИЙ СТОМАТОЛОГИЯ», лист «Пример отчета» (дубль в «Итоги месяца», блоки «Октябрь/Ноябрь 2024»). Октябрь: 152 заявки, CPL 1 086,9 ₽, бюджет 165 205 ₽, 41 запись, 18 приходов, 3 продажи, выручка 1 143 590 ₽, ДРР 14,45%. Средний чек 1 143 590/3 ≈ 381 тыс. ₽. Отзывы: файл отзывов клиники, строки 1–93, 28.08–02.10.2024, 33 площадки. Название клиники на слайд не выносим до письменного согласия.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сеть лазерной эпиляции (133 616 заявок, 488 ₽, 19 городов, 18 мес) и сеть студий массажа (44 465 заявок по 592 ₽, 10 городов, 21 мес: март 2024 — январь 2026) — «Презентация_OMG» и «Кейсы проф ди.xlsx» (лист «Лист1 (копия)»). Лазерная эпиляция Москва (анонимно): «Кейсы проф ди.xlsx», лист «Евергло (копия)»: за 7 мес 2 358 лидов по 550 ₽, 1 108 записей (47%), 720 приходов, выручка 4 248 000 ₽ (услуги 1 944 000 + 144 абонемента × ~16 000 = 2 304 000) при бюджете 1 297 000 ₽. Академия кинезиологии: «OMG_Case_Kinesioprofi_v3_reshenie.docx» — заявки 7→25/мес (×2,5), 220 предзаписей, ВК +532% подписчиков, YouTube ×8,5, март–июнь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Отчётность (подтверждено «БЗ стоматологии 2025»): дубль лидов в Google Sheets в реальном времени, еженедельный разбор брака, помесячные «Итоги месяца» до выручки и ДРР. Срок «2–3 рабочих дня» на медиаплан — подтвердить у Яны до рассылки (в документах SLA не зафиксирован). Блок «Честно про гарантии» — перенос фирменного приёма сайта OMG.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рассылки: (1) добавить телефон и WhatsApp — в документах их нет, у собственников клиник мессенджер работает лучше почты; (2) рассмотреть почту на домене (yana@obgolts-media.ru) — gmail снижает доверие и доставляемость в холодном B2B; (3) проверить, что obgolts-media.ru опубликован и форма заявки работает. Instagram не включён (запрет рекламы, 72-ФЗ), Telegram — опционально после блокировки в РФ.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OBGOLTS MEDIA GROUP · КЕЙСЫ ДЛЯ СТОМАТОЛОГИЙ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635240" y="45720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909560" y="45720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45720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458200" y="45720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 стоматологий,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который видно в P&amp;L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клиник с полной воронкой до денег: заявка → запись → приход → продажа.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— из CRM клиник (Битрикс24) и рекламных кабинетов VK 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 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выручки на каждый 1 ₽ рекламы — стоматология в Улан-Удэ, январь–май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27889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6 300+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3355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для стоматологий за последние 12 месяцев в 5 городах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7889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3355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городов, где OMG запускала рекламу для стоматологий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2B1714"/>
          </a:solidFill>
          <a:ln w="9525">
            <a:solidFill>
              <a:srgbClr val="E34234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34256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42416" y="416052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Ответьте на письмо названием вашего города — </a:t>
            </a:r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2–3 рабочих дня пришлём медиаплан: сколько заявок и записей реально получить и по какой цене. Бесплатно.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не «ведём рекламу» — мы приводим пациента в кресло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88720"/>
            <a:ext cx="420624" cy="420624"/>
          </a:xfrm>
          <a:prstGeom prst="ellipse">
            <a:avLst/>
          </a:prstGeom>
          <a:solidFill>
            <a:srgbClr val="E3423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2893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152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VK Ads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70432" y="142646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Проверенные офферы имплантации и All-on-4, которые уже приносят заявки клиникам в 14 городах.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024128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73752" y="1188720"/>
            <a:ext cx="420624" cy="420624"/>
          </a:xfrm>
          <a:prstGeom prst="ellipse">
            <a:avLst/>
          </a:prstGeom>
          <a:solidFill>
            <a:srgbClr val="E3423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893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2392" y="1152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до денег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22392" y="142646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— сразу в Битрикс24. В отчёте не охваты, а деньги: цена заявки, цена пациента, выручка, ДРР.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322576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" y="2487168"/>
            <a:ext cx="420624" cy="420624"/>
          </a:xfrm>
          <a:prstGeom prst="ellipse">
            <a:avLst/>
          </a:prstGeom>
          <a:solidFill>
            <a:srgbClr val="E3423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5877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Сайты клиник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70432" y="27249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учётом 152-ФЗ: согласия, персональные данные. В работе 11 городов, 7 сайтов уже запущены.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2322576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73752" y="2487168"/>
            <a:ext cx="420624" cy="420624"/>
          </a:xfrm>
          <a:prstGeom prst="ellipse">
            <a:avLst/>
          </a:prstGeom>
          <a:solidFill>
            <a:srgbClr val="E3423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258775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22392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Репутация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22392" y="27249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на Яндекс.Картах, 2ГИС, ПроДокторов — там, где пациент выбирает клинику.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3767328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621792" y="383133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 мес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621792" y="417880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непрерывной работы с одной клиникой — Кемерово, с сентября 2024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566160" y="3767328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/>
        </p:spPr>
      </p:sp>
      <p:sp>
        <p:nvSpPr>
          <p:cNvPr id="27" name="Text 21"/>
          <p:cNvSpPr/>
          <p:nvPr/>
        </p:nvSpPr>
        <p:spPr>
          <a:xfrm>
            <a:off x="3730752" y="383133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1 200–1 500 ₽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3730752" y="417880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по цене заявки для клиник (внутренние KPI, сентябрь 2025)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766560" y="376732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Цену и объём заявок фиксируем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договоре как KPI.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01 · УЛАН-УДЭ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млн ₽ выручки за 5 месяцев — 14,6 ₽ на каждый рубль рекламы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Стоматологическая клиника. Старт с OMG — декабрь 2025. Оффер All-on-4 (имплантация всей челюсти) в лид-формах VK Ads, заявки сразу падают в Битрикс24.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же месяц: 310 заявок по 1 082 ₽, из них 194 записи (62,6%).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Январь 2026: 239 заявок → 166 записей (69,5%) → 84 прихода → 16 продаж имплантации.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 пациента в клинику обходится в 3 175 ₽ бюджета, продажа — в 16 670 ₽ при среднем чеке ~207 000 ₽.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Январь–май 2026: 13,97 млн ₽ выручки при ДРР 5,7–8,2%. В 4 из 5 месяцев — по 2,7–3,8 млн ₽ (в феврале реклама почти не работала: бюджет 55 тыс. ₽).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06440" y="1481328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71032" y="1554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 млн 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71032" y="193852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января 2026 при бюджете 267 тыс. ₽ (ДРР 8,15%)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06440" y="2596896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71032" y="267004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1032" y="30540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дошло до записи в январе: 166 записей со 239 заявок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3712464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378561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 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71032" y="41696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выручки на каждый 1 ₽ рекламы за январь–май 2026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ДРР — доля рекламных расходов: какой процент выручки ушёл на рекламу. ДРР 8% ≈ каждый 1 ₽ рекламы вернулся 12 ₽ выручки.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02 · НОВОКУЗНЕЦК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проданных имплантаций и 3,8 млн ₽ выручки за один месяц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Клиника в городе меньше миллиона жителей. Офферы «Имплант 1 490 ₽» и «All-on-4 от 3 700 ₽/мес» в лид-формах VK Ads.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2025, третий месяц работы: 300 заявок по 1 400 ₽ → 101 запись → 46 приходов → 12 продаж имплантации.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 пациента — 9 252 ₽ бюджета, продажа имплантации — 35 467 ₽ при среднем чеке ~318 000 ₽.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продолжается: январь 2026 — ещё 2,96 млн ₽ выручки при ДРР 11,4%. Данные ведём по май 2026.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06440" y="1481328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71032" y="1554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3,82 млн 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71032" y="193852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июля 2025 при бюджете 425 600 ₽ (ДРР 11,1%)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06440" y="2596896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71032" y="267004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26,1%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1032" y="30540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пришедших пациентов купили имплантацию — 12 продаж с 46 приходов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3712464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378561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71032" y="41696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за месяц по 1 400 ₽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03 · КАЛИНИНГРАД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 млн ₽ вместо 2 млн — с бюджетом на 43% меньше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про то, что мы не «льём заявки для отчёта», а улучшаем экономику клиники.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А, июль 2025: 414 заявок, бюджет 606 200 ₽, выручка 2 028 777 ₽, ДРР 29,9% — заявок много, экономика слабая.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Б, январь 2026: заявок меньше (197), но качественнее: 84 записи — конверсия в запись выросла с 32,6% до 42,6%. 10 продаж: приход пациента — 9 576 ₽, продажа — 34 475 ₽.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выручка выросла в 1,6 раза, бюджет снизился с 606 до 345 тыс. ₽, ДРР — с 29,9% до 11,9%. Февраль подтвердил: 2,34 млн ₽ при ДРР 12,5%.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06440" y="1481328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71032" y="1554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29,9% → 11,9%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71032" y="193852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ДРР до и после оптимизации (июль 2025 → январь 2026)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06440" y="2596896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71032" y="267004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3,33 млн 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1032" y="30540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января 2026 при бюджете 345 тыс. ₽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3712464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378561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71032" y="41696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дошло до записи в январе: 84 записи со 197 заявок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04 · КЕМЕРОВО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 месяцев непрерывной работы — 1,9 млн ₽ выручки в январе 2026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возражение «агентства сливают бюджет и исчезают через два месяца»: с этой клиникой работаем без перерыва с сентября 2024 года.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месяц (ноябрь 2024): 136 заявок по 760 ₽, 53 записи, выручка 1 411 971 ₽ с бюджета всего 94 976 ₽ — ДРР 6,7%.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месяцев спустя система продолжает работать: январь 2026 — 1 883 800 ₽ выручки при ДРР 10,4%.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 под одним ответственным: реклама + сайт клиники со сквозной аналитикой + соцсети клиники.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06440" y="1481328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71032" y="1554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760 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71032" y="193852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заявки в ноябре 2024 — при выручке 1,41 млн ₽ с бюджета 95 тыс. ₽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06440" y="2596896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71032" y="267004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2 075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1032" y="30540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за последние 12 месяцев — максимум среди 5 городов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3712464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378561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1,88 млн 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71032" y="41696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января 2026 при ДРР 10,4%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05 · САНКТ-ПЕТЕРБУРГ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 млн ₽ с таргета + 93 отзыва о клинике за 5 недель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Клиника в центре Петербурга. Формат «трафик + репутация»: реклама VK Ads с воронкой до продажи и параллельно — управление отзывами.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2024: 152 заявки по 1 087 ₽ → 41 запись → 18 приходов → 3 продажи со средним чеком ~380 000 ₽. Выручка — 1 143 590 ₽ при бюджете 165 205 ₽.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2024: 179 заявок по 1 077 ₽, 63 записи (35,2%).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 выбирает клинику на картах и отзовиках. Мы делаем так, чтобы он вас там нашёл — и поверил тому, что увидел.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06440" y="1481328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71032" y="15544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71032" y="1938528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отзыва на 30+ площадках за 5 недель: Яндекс.Карты, 2ГИС, Flamp, ПроДокторов и др.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06440" y="2596896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71032" y="267004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 млн 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1032" y="305409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октября 2024 при бюджете 165 тыс. ₽ (ДРР 14,45%)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3712464"/>
            <a:ext cx="2880360" cy="969264"/>
          </a:xfrm>
          <a:prstGeom prst="roundRect">
            <a:avLst>
              <a:gd name="adj" fmla="val 566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71032" y="378561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1 077 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71032" y="41696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заявки в ноябре 2024 — 179 заявок за месяц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же система работает в соседних нишах медицины и бьюти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977640" cy="1335024"/>
          </a:xfrm>
          <a:prstGeom prst="roundRect">
            <a:avLst>
              <a:gd name="adj" fmla="val 411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33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лазерной эпиляции · 19 городов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133 616 заявок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79222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18 месяцев по 488 ₽ за заявку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24128"/>
            <a:ext cx="3977640" cy="1335024"/>
          </a:xfrm>
          <a:prstGeom prst="roundRect">
            <a:avLst>
              <a:gd name="adj" fmla="val 411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33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Лазерная эпиляция · Москва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2040" y="13898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4,25 млн ₽ выручки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92040" y="179222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бюджете 1,3 млн ₽ за 7 месяцев (×3,3). Конверсия в запись — 47%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3977640" cy="1335024"/>
          </a:xfrm>
          <a:prstGeom prst="roundRect">
            <a:avLst>
              <a:gd name="adj" fmla="val 411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96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студий массажа · 10 городов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44 465 заявок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" y="32552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21 месяц по 592 ₽ за заявку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487168"/>
            <a:ext cx="3977640" cy="1335024"/>
          </a:xfrm>
          <a:prstGeom prst="roundRect">
            <a:avLst>
              <a:gd name="adj" fmla="val 4110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596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Медицинская академия (кинезиология)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852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4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Заявки ×2,5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892040" y="32552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месяца без рекламного бюджета + 220 предзаписей на день открытых дверей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 и бьюти — основная специализация OMG: клиники, косметология, лазерная эпиляция, массаж, медицинское образование.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устроено: 4 шага от письма до отчёта с выручкой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97864"/>
            <a:ext cx="384048" cy="384048"/>
          </a:xfrm>
          <a:prstGeom prst="ellipse">
            <a:avLst/>
          </a:prstGeom>
          <a:solidFill>
            <a:srgbClr val="E3423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" y="167335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Медиаплан до договора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130552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называете город — мы за 2–3 рабочих дня считаем, сколько заявок и записей реально получить и по какой цене. Бесплатно.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70632" y="1197864"/>
            <a:ext cx="384048" cy="384048"/>
          </a:xfrm>
          <a:prstGeom prst="ellipse">
            <a:avLst/>
          </a:prstGeom>
          <a:solidFill>
            <a:srgbClr val="E34234"/>
          </a:solidFill>
          <a:ln/>
        </p:spPr>
      </p:sp>
      <p:sp>
        <p:nvSpPr>
          <p:cNvPr id="10" name="Text 8"/>
          <p:cNvSpPr/>
          <p:nvPr/>
        </p:nvSpPr>
        <p:spPr>
          <a:xfrm>
            <a:off x="277063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52344" y="167335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на проверенном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52344" y="2130552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Офферы имплантации и All-on-4, которые за год дали 6 300+ заявок клиникам в 5 городах.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9472" y="1197864"/>
            <a:ext cx="384048" cy="384048"/>
          </a:xfrm>
          <a:prstGeom prst="ellipse">
            <a:avLst/>
          </a:prstGeom>
          <a:solidFill>
            <a:srgbClr val="E34234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01184" y="167335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— сразу в вашу CRM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01184" y="2130552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Битрикс24 + дубль выгрузки в Google Sheets в реальном времени.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105156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68312" y="1197864"/>
            <a:ext cx="384048" cy="384048"/>
          </a:xfrm>
          <a:prstGeom prst="ellipse">
            <a:avLst/>
          </a:prstGeom>
          <a:solidFill>
            <a:srgbClr val="E34234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50024" y="167335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качеством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0024" y="2130552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Еженедельный разбор качества заявок, скрипты для администраторов, помесячный отчёт до выручки и ДРР.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2B1714"/>
          </a:solidFill>
          <a:ln w="9525">
            <a:solidFill>
              <a:srgbClr val="E342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456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про гарантии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" y="37490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обещаем «пациентов по 50 ₽» и не гарантируем вашу выручку — она зависит и от работы регистратуры. Мы фиксируем измеримое: цену и объём заявок. KPI прописываются в договоре.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731520" y="50292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50292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280160" y="502920"/>
            <a:ext cx="274320" cy="201168"/>
          </a:xfrm>
          <a:prstGeom prst="line">
            <a:avLst/>
          </a:prstGeom>
          <a:noFill/>
          <a:ln w="28575">
            <a:solidFill>
              <a:srgbClr val="E342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Ответьте названием города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пришлём медиаплан для вашей клиники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Внутри: прогноз заявок и записей, реальная цена заявки на основе данных 14 городов, рекомендуемый бюджет. Бесплатно и ни к чему не обязывает.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1F1F1F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32004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Яна Обгольц — основатель Obgolts Media Group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35661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</a:t>
            </a:r>
            <a:pPr indent="0" marL="0">
              <a:buNone/>
            </a:pPr>
            <a:r>
              <a:rPr lang="en-US" sz="1400" b="1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yana.obgolts@gmail.com</a:t>
            </a:r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Сайт:  </a:t>
            </a:r>
            <a:pPr indent="0" marL="0">
              <a:buNone/>
            </a:pPr>
            <a:r>
              <a:rPr lang="en-US" sz="1400" b="1" dirty="0">
                <a:solidFill>
                  <a:srgbClr val="E3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obgolts-media.ru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9136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Отвечаем на письма в течение рабочего дня.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Хотите сначала посмотреть, как выглядит наша отчётность? 15 минут в Zoom — покажем воронку от заявки до выручки.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326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 · Стоматологии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29600" y="48326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OMG — кейсы для стоматологий</dc:title>
  <dc:subject>PptxGenJS Presentation</dc:subject>
  <dc:creator>Obgolts Media Group</dc:creator>
  <cp:lastModifiedBy>Obgolts Media Group</cp:lastModifiedBy>
  <cp:revision>1</cp:revision>
  <dcterms:created xsi:type="dcterms:W3CDTF">2026-07-07T03:45:18Z</dcterms:created>
  <dcterms:modified xsi:type="dcterms:W3CDTF">2026-07-07T03:45:18Z</dcterms:modified>
</cp:coreProperties>
</file>